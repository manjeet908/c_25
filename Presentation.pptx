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JetBrains Mono"/>
      <p:bold r:id="rId10"/>
    </p:embeddedFont>
    <p:embeddedFont>
      <p:font typeface="Plus Jakarta Sans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657850"/>
            <a:ext cx="10668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657850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1339573"/>
            <a:ext cx="9601200" cy="1007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F8FAFC"/>
                </a:solidFill>
                <a:latin typeface="Plus Jakarta Sans"/>
              </a:rPr>
              <a:t>Quality Control in Manufacturing: Defect Inspection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18589"/>
            <a:ext cx="7715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CBD5E1"/>
                </a:solidFill>
                <a:latin typeface="Plus Jakarta Sans"/>
              </a:rPr>
              <a:t>Image Processing &amp; Computer Vision (IPCV) • Classical Vision Pipeline on MVTec AD Bottle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513018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38BDF8"/>
                </a:solidFill>
                <a:latin typeface="Plus Jakarta Sans"/>
              </a:rPr>
              <a:t>MOTILAL NEHRU NATIONAL INSTITUTE OF TECHNOLOGY</a:t>
            </a:r>
            <a:r>
              <a:rPr lang="en-IN" sz="1400" b="1" i="0" u="none" dirty="0">
                <a:solidFill>
                  <a:srgbClr val="38BDF8"/>
                </a:solidFill>
                <a:latin typeface="Plus Jakarta Sans"/>
              </a:rPr>
              <a:t> ALLAHABAD</a:t>
            </a:r>
            <a:endParaRPr sz="1400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809625"/>
            <a:ext cx="351179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rgbClr val="94A3B8"/>
                </a:solidFill>
                <a:latin typeface="JetBrains Mono"/>
              </a:rPr>
              <a:t>Department of Computer Science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895975"/>
            <a:ext cx="23217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UNDER THE GUIDANCE 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105525"/>
            <a:ext cx="23217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Prof. Abhimanyu Sahu</a:t>
            </a:r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DBC900FE-CE64-A294-6C06-E802E172E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471089"/>
            <a:ext cx="114300" cy="142875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332534B0-1971-227A-A29A-51544254D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42564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472CBA96-D85C-7AF2-7598-DF5063158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214039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9C1C6BFB-F3FC-7711-7A07-10E89DEFA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85514"/>
            <a:ext cx="114300" cy="14287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8FE8742-94A2-BE5E-9FB7-BE7020DC3016}"/>
              </a:ext>
            </a:extLst>
          </p:cNvPr>
          <p:cNvSpPr txBox="1"/>
          <p:nvPr/>
        </p:nvSpPr>
        <p:spPr>
          <a:xfrm>
            <a:off x="762000" y="3128189"/>
            <a:ext cx="892873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64748B"/>
                </a:solidFill>
                <a:latin typeface="Plus Jakarta Sans"/>
              </a:rPr>
              <a:t>PROJECT TEAM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E707C5-7A2D-EBFD-0E31-EEBC3E58E2E4}"/>
              </a:ext>
            </a:extLst>
          </p:cNvPr>
          <p:cNvSpPr txBox="1"/>
          <p:nvPr/>
        </p:nvSpPr>
        <p:spPr>
          <a:xfrm>
            <a:off x="990600" y="3404027"/>
            <a:ext cx="258724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IN" b="0" i="0" u="none" dirty="0">
                <a:solidFill>
                  <a:srgbClr val="E2E8F0"/>
                </a:solidFill>
                <a:latin typeface="Plus Jakarta Sans"/>
              </a:rPr>
              <a:t>Manjeet Kumar (20233179)</a:t>
            </a:r>
            <a:endParaRPr b="0" i="0" u="none" dirty="0">
              <a:solidFill>
                <a:srgbClr val="E2E8F0"/>
              </a:solidFill>
              <a:latin typeface="Plus Jakarta San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91DA4B-7079-DA98-E089-6D18B81E95D6}"/>
              </a:ext>
            </a:extLst>
          </p:cNvPr>
          <p:cNvSpPr txBox="1"/>
          <p:nvPr/>
        </p:nvSpPr>
        <p:spPr>
          <a:xfrm>
            <a:off x="990600" y="3775502"/>
            <a:ext cx="268118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IN" b="0" i="0" u="none" dirty="0">
                <a:solidFill>
                  <a:srgbClr val="E2E8F0"/>
                </a:solidFill>
                <a:latin typeface="Plus Jakarta Sans"/>
              </a:rPr>
              <a:t>Md Abdul Kalam (20233183)</a:t>
            </a:r>
            <a:endParaRPr b="0" i="0" u="none" dirty="0">
              <a:solidFill>
                <a:srgbClr val="E2E8F0"/>
              </a:solidFill>
              <a:latin typeface="Plus Jakarta San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730D20-5264-2F77-234E-54550DE3E469}"/>
              </a:ext>
            </a:extLst>
          </p:cNvPr>
          <p:cNvSpPr txBox="1"/>
          <p:nvPr/>
        </p:nvSpPr>
        <p:spPr>
          <a:xfrm>
            <a:off x="990600" y="4146977"/>
            <a:ext cx="345992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IN" b="0" i="0" u="none" dirty="0">
                <a:solidFill>
                  <a:srgbClr val="E2E8F0"/>
                </a:solidFill>
                <a:latin typeface="Plus Jakarta Sans"/>
              </a:rPr>
              <a:t>Lokesh Kumar </a:t>
            </a:r>
            <a:r>
              <a:rPr lang="en-IN" b="0" i="0" u="none" dirty="0" err="1">
                <a:solidFill>
                  <a:srgbClr val="E2E8F0"/>
                </a:solidFill>
                <a:latin typeface="Plus Jakarta Sans"/>
              </a:rPr>
              <a:t>Kankarwal</a:t>
            </a:r>
            <a:r>
              <a:rPr lang="en-IN" b="0" i="0" u="none" dirty="0">
                <a:solidFill>
                  <a:srgbClr val="E2E8F0"/>
                </a:solidFill>
                <a:latin typeface="Plus Jakarta Sans"/>
              </a:rPr>
              <a:t> (20233175)</a:t>
            </a:r>
            <a:endParaRPr b="0" i="0" u="none" dirty="0">
              <a:solidFill>
                <a:srgbClr val="E2E8F0"/>
              </a:solidFill>
              <a:latin typeface="Plus Jakarta San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6AD9F9-4A5C-BE20-BBD0-12292EE36FE9}"/>
              </a:ext>
            </a:extLst>
          </p:cNvPr>
          <p:cNvSpPr txBox="1"/>
          <p:nvPr/>
        </p:nvSpPr>
        <p:spPr>
          <a:xfrm>
            <a:off x="990600" y="4518452"/>
            <a:ext cx="264335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IN" b="0" i="0" u="none" dirty="0" err="1">
                <a:solidFill>
                  <a:srgbClr val="E2E8F0"/>
                </a:solidFill>
                <a:latin typeface="Plus Jakarta Sans"/>
              </a:rPr>
              <a:t>Sanginesh</a:t>
            </a:r>
            <a:r>
              <a:rPr lang="en-IN" b="0" i="0" u="none" dirty="0">
                <a:solidFill>
                  <a:srgbClr val="E2E8F0"/>
                </a:solidFill>
                <a:latin typeface="Plus Jakarta Sans"/>
              </a:rPr>
              <a:t> Singh (20233251)</a:t>
            </a:r>
            <a:endParaRPr b="0" i="0" u="none" dirty="0">
              <a:solidFill>
                <a:srgbClr val="E2E8F0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2">
            <a:extLst>
              <a:ext uri="{FF2B5EF4-FFF2-40B4-BE49-F238E27FC236}">
                <a16:creationId xmlns:a16="http://schemas.microsoft.com/office/drawing/2014/main" id="{A1AF59F6-C551-CB21-1744-42F1E5FBCC0C}"/>
              </a:ext>
            </a:extLst>
          </p:cNvPr>
          <p:cNvSpPr/>
          <p:nvPr/>
        </p:nvSpPr>
        <p:spPr>
          <a:xfrm>
            <a:off x="513735" y="827045"/>
            <a:ext cx="6624483" cy="2139345"/>
          </a:xfrm>
          <a:prstGeom prst="roundRect">
            <a:avLst>
              <a:gd name="adj" fmla="val 59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Rounded Rectangle 1"/>
          <p:cNvSpPr/>
          <p:nvPr/>
        </p:nvSpPr>
        <p:spPr>
          <a:xfrm>
            <a:off x="685800" y="5962650"/>
            <a:ext cx="10820400" cy="438150"/>
          </a:xfrm>
          <a:prstGeom prst="roundRect">
            <a:avLst>
              <a:gd name="adj" fmla="val 2173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3882326"/>
            <a:ext cx="3454449" cy="1931193"/>
          </a:xfrm>
          <a:prstGeom prst="roundRect">
            <a:avLst>
              <a:gd name="adj" fmla="val 59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68849" y="3882326"/>
            <a:ext cx="3454449" cy="1931193"/>
          </a:xfrm>
          <a:prstGeom prst="roundRect">
            <a:avLst>
              <a:gd name="adj" fmla="val 59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3882326"/>
            <a:ext cx="3454449" cy="1931193"/>
          </a:xfrm>
          <a:prstGeom prst="roundRect">
            <a:avLst>
              <a:gd name="adj" fmla="val 59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4158551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074" y="4158551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24" y="4158551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512" y="4272851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9374" y="4272851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8136" y="4272851"/>
            <a:ext cx="21907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3242615"/>
            <a:ext cx="115062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Why Classical Computer Vision?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96000"/>
            <a:ext cx="161329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CORE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6925" y="6096000"/>
            <a:ext cx="63150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Robust Alignment • Multi-Channel Extraction • 3-Tier Risk Engine • Streamlit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730051"/>
            <a:ext cx="38088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Defect Imbalance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5044376"/>
            <a:ext cx="3627499" cy="2071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Real plants rarely see fractures.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5365843"/>
            <a:ext cx="3627499" cy="1714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Trained strictly on 209 normal bottles.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074" y="4730051"/>
            <a:ext cx="38088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Zero GPU Footprint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074" y="5044376"/>
            <a:ext cx="3627499" cy="2071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Runs entirely on standard laptop CPU.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074" y="5365843"/>
            <a:ext cx="3627499" cy="1714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Sub-30 ms latency per frame.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8124" y="4730051"/>
            <a:ext cx="38088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Full Interpretability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8124" y="5044376"/>
            <a:ext cx="3627499" cy="2071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No unexplainable neural black box.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8124" y="5365843"/>
            <a:ext cx="3627499" cy="1714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Explicit pixel and edge anomalies.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F658C7-7CF6-B825-2AA5-2A614EFD51B0}"/>
              </a:ext>
            </a:extLst>
          </p:cNvPr>
          <p:cNvSpPr txBox="1"/>
          <p:nvPr/>
        </p:nvSpPr>
        <p:spPr>
          <a:xfrm>
            <a:off x="685800" y="2060957"/>
            <a:ext cx="628527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600" b="0" i="0" u="none" dirty="0">
                <a:latin typeface="Plus Jakarta Sans"/>
              </a:rPr>
              <a:t>This project builds a highly accurate, CPU-friendly visual inspection system using </a:t>
            </a:r>
            <a:r>
              <a:rPr sz="1600" i="0" u="non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Plus Jakarta Sans"/>
              </a:rPr>
              <a:t>classical CV algorithms </a:t>
            </a:r>
            <a:r>
              <a:rPr sz="1600" b="0" i="0" u="none" dirty="0">
                <a:latin typeface="Plus Jakarta Sans"/>
              </a:rPr>
              <a:t>that learns to detect cracks and dirt by studying only 209 normal, defect-free bottles</a:t>
            </a:r>
            <a:r>
              <a:rPr lang="en-IN" sz="1600" b="0" i="0" u="none" dirty="0">
                <a:latin typeface="Plus Jakarta Sans"/>
              </a:rPr>
              <a:t> from </a:t>
            </a:r>
            <a:r>
              <a:rPr lang="en-IN" sz="1600" b="0" i="0" u="none" dirty="0" err="1">
                <a:solidFill>
                  <a:schemeClr val="accent1"/>
                </a:solidFill>
                <a:latin typeface="Plus Jakarta Sans"/>
              </a:rPr>
              <a:t>mvtec</a:t>
            </a:r>
            <a:r>
              <a:rPr lang="en-IN" sz="1600" b="0" i="0" u="none" dirty="0">
                <a:solidFill>
                  <a:schemeClr val="accent1"/>
                </a:solidFill>
                <a:latin typeface="Plus Jakarta Sans"/>
              </a:rPr>
              <a:t>-ad dataset</a:t>
            </a:r>
            <a:r>
              <a:rPr sz="1600" b="0" i="0" u="none" dirty="0">
                <a:solidFill>
                  <a:schemeClr val="accent1"/>
                </a:solidFill>
                <a:latin typeface="Plus Jakarta Sans"/>
              </a:rPr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61D5F8-77DE-FC10-70E3-3C59F57AD54B}"/>
              </a:ext>
            </a:extLst>
          </p:cNvPr>
          <p:cNvSpPr txBox="1"/>
          <p:nvPr/>
        </p:nvSpPr>
        <p:spPr>
          <a:xfrm>
            <a:off x="685567" y="505165"/>
            <a:ext cx="774256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8BDF8"/>
                </a:solidFill>
                <a:latin typeface="Plus Jakarta Sans"/>
              </a:rPr>
              <a:t>THE PROBLEM &amp; OUR SOLUTION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D15A93-AC34-CFE6-B336-ED4C55E1AA23}"/>
              </a:ext>
            </a:extLst>
          </p:cNvPr>
          <p:cNvSpPr txBox="1"/>
          <p:nvPr/>
        </p:nvSpPr>
        <p:spPr>
          <a:xfrm>
            <a:off x="685799" y="1000465"/>
            <a:ext cx="6285271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600" i="0" u="none" dirty="0">
                <a:latin typeface="Plus Jakarta Sans"/>
              </a:rPr>
              <a:t>Manual bottle inspection is slow, costly, and unreliable. While deep learning is a popular alternative, it requires thousands of rare defect samples and expensive GPUs.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5806678"/>
            <a:ext cx="11125200" cy="63222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5949553"/>
            <a:ext cx="5391150" cy="4893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5806678"/>
            <a:ext cx="111252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67450" y="5949553"/>
            <a:ext cx="5391150" cy="4893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1593353"/>
            <a:ext cx="1579364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1879103"/>
            <a:ext cx="2011709" cy="1206698"/>
          </a:xfrm>
          <a:prstGeom prst="roundRect">
            <a:avLst>
              <a:gd name="adj" fmla="val 94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11809" y="1879103"/>
            <a:ext cx="2011709" cy="1206698"/>
          </a:xfrm>
          <a:prstGeom prst="roundRect">
            <a:avLst>
              <a:gd name="adj" fmla="val 94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90219" y="1879103"/>
            <a:ext cx="2011709" cy="1206698"/>
          </a:xfrm>
          <a:prstGeom prst="roundRect">
            <a:avLst>
              <a:gd name="adj" fmla="val 94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68629" y="1879103"/>
            <a:ext cx="2011709" cy="1206698"/>
          </a:xfrm>
          <a:prstGeom prst="roundRect">
            <a:avLst>
              <a:gd name="adj" fmla="val 94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47039" y="1879103"/>
            <a:ext cx="2011709" cy="1206698"/>
          </a:xfrm>
          <a:prstGeom prst="roundRect">
            <a:avLst>
              <a:gd name="adj" fmla="val 94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3400" y="3700016"/>
            <a:ext cx="1682204" cy="1905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33400" y="3985766"/>
            <a:ext cx="2011709" cy="1206698"/>
          </a:xfrm>
          <a:prstGeom prst="roundRect">
            <a:avLst>
              <a:gd name="adj" fmla="val 94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11809" y="3985766"/>
            <a:ext cx="2011709" cy="1206698"/>
          </a:xfrm>
          <a:prstGeom prst="roundRect">
            <a:avLst>
              <a:gd name="adj" fmla="val 94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90219" y="3985766"/>
            <a:ext cx="2011709" cy="1206698"/>
          </a:xfrm>
          <a:prstGeom prst="roundRect">
            <a:avLst>
              <a:gd name="adj" fmla="val 94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68629" y="3985766"/>
            <a:ext cx="2011709" cy="1206698"/>
          </a:xfrm>
          <a:prstGeom prst="roundRect">
            <a:avLst>
              <a:gd name="adj" fmla="val 94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47039" y="3985766"/>
            <a:ext cx="2011709" cy="1206698"/>
          </a:xfrm>
          <a:prstGeom prst="roundRect">
            <a:avLst>
              <a:gd name="adj" fmla="val 94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3400" y="5949553"/>
            <a:ext cx="28575" cy="4893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7450" y="5949553"/>
            <a:ext cx="28575" cy="48934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309" y="2415778"/>
            <a:ext cx="11430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719" y="2415778"/>
            <a:ext cx="11430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129" y="2415778"/>
            <a:ext cx="11430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6539" y="2415778"/>
            <a:ext cx="11430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309" y="4522440"/>
            <a:ext cx="114300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719" y="4522440"/>
            <a:ext cx="11430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129" y="4522440"/>
            <a:ext cx="114300" cy="1333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6539" y="4522440"/>
            <a:ext cx="114300" cy="1333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33400" y="419100"/>
            <a:ext cx="116586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SYSTEM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28650"/>
            <a:ext cx="116586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End-to-End Pipeline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1621928"/>
            <a:ext cx="152221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Inter"/>
              </a:rPr>
              <a:t>OFFLINE TRAINING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08014" y="1612403"/>
            <a:ext cx="44410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209 Normal Bottles • Rapid CPU Moment Estimation (~3.5s)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3728591"/>
            <a:ext cx="162505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5803D"/>
                </a:solidFill>
                <a:latin typeface="Inter"/>
              </a:rPr>
              <a:t>ONLINE INSPECTION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10854" y="3719066"/>
            <a:ext cx="38457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Real-Time Factory Edge Inference (~28 ms / frame)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325" y="5949553"/>
            <a:ext cx="686335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Inter"/>
              </a:rPr>
              <a:t>Affine Drift Correction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325" y="6130528"/>
            <a:ext cx="6536531" cy="1541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Cancels conveyor belt displacement to sub-pixel coordinates across both training and inference.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9375" y="5949553"/>
            <a:ext cx="5762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Inter"/>
              </a:rPr>
              <a:t>One-Class Statistical Distribution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9375" y="6130528"/>
            <a:ext cx="5324475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Fits spatial mean and variance solely on 209 defect-free samples, eliminating the need for defective training data.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0530" y="2041028"/>
            <a:ext cx="21574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284C7"/>
                </a:solidFill>
                <a:latin typeface="Inter"/>
              </a:rPr>
              <a:t>STEP T1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593" y="2231528"/>
            <a:ext cx="2265322" cy="172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9"/>
              </a:lnSpc>
            </a:pPr>
            <a:r>
              <a:rPr sz="1087" b="1" i="0" u="none">
                <a:solidFill>
                  <a:srgbClr val="0F172A"/>
                </a:solidFill>
                <a:latin typeface="Inter"/>
              </a:rPr>
              <a:t>Normal Image Ingestion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0530" y="2461319"/>
            <a:ext cx="2157449" cy="4625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4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209 defect-free 900x900 bottles downsampled to 300x300.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38939" y="2041028"/>
            <a:ext cx="21574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284C7"/>
                </a:solidFill>
                <a:latin typeface="Inter"/>
              </a:rPr>
              <a:t>STEP T2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85003" y="2231528"/>
            <a:ext cx="2265322" cy="172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9"/>
              </a:lnSpc>
            </a:pPr>
            <a:r>
              <a:rPr sz="1087" b="1" i="0" u="none">
                <a:solidFill>
                  <a:srgbClr val="0F172A"/>
                </a:solidFill>
                <a:latin typeface="Inter"/>
              </a:rPr>
              <a:t>Canonical Alignment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38939" y="2461319"/>
            <a:ext cx="2157449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4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Centroid localization and affine warp translation to (150, 150).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17349" y="2041028"/>
            <a:ext cx="21574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284C7"/>
                </a:solidFill>
                <a:latin typeface="Inter"/>
              </a:rPr>
              <a:t>STEP T3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63413" y="2231528"/>
            <a:ext cx="2265322" cy="172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9"/>
              </a:lnSpc>
            </a:pPr>
            <a:r>
              <a:rPr sz="1087" b="1" i="0" u="none">
                <a:solidFill>
                  <a:srgbClr val="0F172A"/>
                </a:solidFill>
                <a:latin typeface="Inter"/>
              </a:rPr>
              <a:t>9-Ch Feature Tensor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17349" y="2461319"/>
            <a:ext cx="2157449" cy="4625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4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Color (LAB, HSV), edges (Sobel, Laplacian), texture &amp; morphology.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95759" y="2041028"/>
            <a:ext cx="21574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284C7"/>
                </a:solidFill>
                <a:latin typeface="Inter"/>
              </a:rPr>
              <a:t>STEP T4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41823" y="2231528"/>
            <a:ext cx="2265322" cy="172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9"/>
              </a:lnSpc>
            </a:pPr>
            <a:r>
              <a:rPr sz="1087" b="1" i="0" u="none">
                <a:solidFill>
                  <a:srgbClr val="0F172A"/>
                </a:solidFill>
                <a:latin typeface="Inter"/>
              </a:rPr>
              <a:t>Statistical Modeling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95759" y="2461319"/>
            <a:ext cx="2157449" cy="4625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4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Pixel-wise mean (μ) and regularized standard deviation (σ + ε).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74169" y="2041028"/>
            <a:ext cx="21574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284C7"/>
                </a:solidFill>
                <a:latin typeface="Inter"/>
              </a:rPr>
              <a:t>STEP T5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0232" y="2231528"/>
            <a:ext cx="2265322" cy="172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9"/>
              </a:lnSpc>
            </a:pPr>
            <a:r>
              <a:rPr sz="1087" b="1" i="0" u="none">
                <a:solidFill>
                  <a:srgbClr val="0F172A"/>
                </a:solidFill>
                <a:latin typeface="Inter"/>
              </a:rPr>
              <a:t>Model Serialization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74169" y="2461319"/>
            <a:ext cx="2157449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4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Export 3.8 MB compressed baseline archive (.npz artifact).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0530" y="4147691"/>
            <a:ext cx="21574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59669"/>
                </a:solidFill>
                <a:latin typeface="Inter"/>
              </a:rPr>
              <a:t>STEP I1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6593" y="4338191"/>
            <a:ext cx="2265322" cy="172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9"/>
              </a:lnSpc>
            </a:pPr>
            <a:r>
              <a:rPr sz="1087" b="1" i="0" u="none">
                <a:solidFill>
                  <a:srgbClr val="0F172A"/>
                </a:solidFill>
                <a:latin typeface="Inter"/>
              </a:rPr>
              <a:t>Input &amp; Resizing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0530" y="4567981"/>
            <a:ext cx="2157449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4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Conveyor frame resize to 300x300 area interpolation.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38939" y="4147691"/>
            <a:ext cx="21574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59669"/>
                </a:solidFill>
                <a:latin typeface="Inter"/>
              </a:rPr>
              <a:t>STEP I2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85003" y="4338191"/>
            <a:ext cx="2265322" cy="172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9"/>
              </a:lnSpc>
            </a:pPr>
            <a:r>
              <a:rPr sz="1087" b="1" i="0" u="none">
                <a:solidFill>
                  <a:srgbClr val="0F172A"/>
                </a:solidFill>
                <a:latin typeface="Inter"/>
              </a:rPr>
              <a:t>Circle Alignment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38939" y="4567981"/>
            <a:ext cx="2157449" cy="4625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4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Enclosing circle center translation to coordinate (150, 150).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17349" y="4147691"/>
            <a:ext cx="21574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59669"/>
                </a:solidFill>
                <a:latin typeface="Inter"/>
              </a:rPr>
              <a:t>STEP I3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63413" y="4338191"/>
            <a:ext cx="2265322" cy="172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9"/>
              </a:lnSpc>
            </a:pPr>
            <a:r>
              <a:rPr sz="1087" b="1" i="0" u="none">
                <a:solidFill>
                  <a:srgbClr val="0F172A"/>
                </a:solidFill>
                <a:latin typeface="Inter"/>
              </a:rPr>
              <a:t>9-Ch Extraction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17349" y="4567981"/>
            <a:ext cx="2157449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4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Matching 9-channel descriptor computation for test frame.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95759" y="4147691"/>
            <a:ext cx="21574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59669"/>
                </a:solidFill>
                <a:latin typeface="Inter"/>
              </a:rPr>
              <a:t>STEP I4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41823" y="4338191"/>
            <a:ext cx="2265322" cy="172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9"/>
              </a:lnSpc>
            </a:pPr>
            <a:r>
              <a:rPr sz="1087" b="1" i="0" u="none">
                <a:solidFill>
                  <a:srgbClr val="0F172A"/>
                </a:solidFill>
                <a:latin typeface="Inter"/>
              </a:rPr>
              <a:t>Mahalanobis Engine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95759" y="4567981"/>
            <a:ext cx="2157449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4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Weighted Z-score residual map and 99.8th percentile scoring.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74169" y="4147691"/>
            <a:ext cx="21574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59669"/>
                </a:solidFill>
                <a:latin typeface="Inter"/>
              </a:rPr>
              <a:t>STEP I5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20232" y="4338191"/>
            <a:ext cx="2265322" cy="172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9"/>
              </a:lnSpc>
            </a:pPr>
            <a:r>
              <a:rPr sz="1087" b="1" i="0" u="none">
                <a:solidFill>
                  <a:srgbClr val="0F172A"/>
                </a:solidFill>
                <a:latin typeface="Inter"/>
              </a:rPr>
              <a:t>3-Tier Decision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74169" y="4567981"/>
            <a:ext cx="2157449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4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Pass, Suspicious Review, or Reject with localized bbox.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85800" y="2419350"/>
          <a:ext cx="10820398" cy="2838450"/>
        </p:xfrm>
        <a:graphic>
          <a:graphicData uri="http://schemas.openxmlformats.org/drawingml/2006/table">
            <a:tbl>
              <a:tblPr/>
              <a:tblGrid>
                <a:gridCol w="105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6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8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9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8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80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Channel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Feature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CV Operation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Target Defect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Sensitivity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CIE-L* Lightness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Luminance / 255.0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Opaque dirt and dark spots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Normal (1.0x)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JetBrains Mono"/>
                        </a:rPr>
                        <a:t>1 - 2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CIE-a* / CIE-b*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Green-Red &amp; Blue-Yellow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Chemical stains &amp; oil residue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High (1.2x)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JetBrains Mono"/>
                        </a:rPr>
                        <a:t>3 - 4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HSV Saturation / 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Purity &amp; Brightness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Liquid coatings &amp; shadows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EA580C"/>
                          </a:solidFill>
                          <a:latin typeface="Plus Jakarta Sans"/>
                        </a:rPr>
                        <a:t>Very High (1.5x)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JetBrains Mono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Sobel Gradients (X, 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First-order gradient magnitude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Structural cracks &amp; broken glass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Normal (1.0x)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JetBrains Mono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Laplacian Sharpness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Second-order derivative filter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Fine hairline cracks &amp; rim chips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Normal (1.0x)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JetBrains Mono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Local Std Dev Texture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7x7 local patch variance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Surface abrasions &amp; roughness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Normal (1.0x)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80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JetBrains Mono"/>
                        </a:rPr>
                        <a:t>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Top-Hat / Black-Hat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9x9 morphological kernel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Glass flakes &amp; dark dust specks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High (1.2x)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419100"/>
            <a:ext cx="115062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8650"/>
            <a:ext cx="115062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9-Channel Feature Extraction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524125"/>
            <a:ext cx="3454449" cy="262890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519362"/>
            <a:ext cx="3454449" cy="2638425"/>
          </a:xfrm>
          <a:prstGeom prst="roundRect">
            <a:avLst>
              <a:gd name="adj" fmla="val 433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519362"/>
            <a:ext cx="3454449" cy="2638425"/>
          </a:xfrm>
          <a:prstGeom prst="roundRect">
            <a:avLst>
              <a:gd name="adj" fmla="val 433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98600" y="4191000"/>
            <a:ext cx="1028700" cy="276225"/>
          </a:xfrm>
          <a:prstGeom prst="roundRect">
            <a:avLst>
              <a:gd name="adj" fmla="val 20689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514975" y="4186237"/>
            <a:ext cx="1162050" cy="276225"/>
          </a:xfrm>
          <a:prstGeom prst="roundRect">
            <a:avLst>
              <a:gd name="adj" fmla="val 20689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264699" y="4186237"/>
            <a:ext cx="1028700" cy="276225"/>
          </a:xfrm>
          <a:prstGeom prst="roundRect">
            <a:avLst>
              <a:gd name="adj" fmla="val 20689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200" y="2724150"/>
            <a:ext cx="1333500" cy="1333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0" y="2719387"/>
            <a:ext cx="1333500" cy="1333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2299" y="2719387"/>
            <a:ext cx="1333500" cy="1333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200" y="2724150"/>
            <a:ext cx="1333500" cy="1333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0" y="2719387"/>
            <a:ext cx="1333500" cy="1333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2299" y="2719387"/>
            <a:ext cx="1333500" cy="1333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419100"/>
            <a:ext cx="115062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QUALITY DECISION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8650"/>
            <a:ext cx="115062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3-Tier Risk Decision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0025" y="4229100"/>
            <a:ext cx="1085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5803D"/>
                </a:solidFill>
                <a:latin typeface="Plus Jakarta Sans"/>
              </a:rPr>
              <a:t>TIER 1: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7863" y="4543425"/>
            <a:ext cx="139017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Score &lt; 16.0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216" y="4800600"/>
            <a:ext cx="2607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Normal bottle, passes immediately.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4018" y="4224337"/>
            <a:ext cx="122396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C2410C"/>
                </a:solidFill>
                <a:latin typeface="Plus Jakarta Sans"/>
              </a:rPr>
              <a:t>TIER 2: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0382" y="4538662"/>
            <a:ext cx="20113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16.0 ≤ Score &lt; 18.5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7015" y="4805362"/>
            <a:ext cx="27979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Borderline cases routed to inspection.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6124" y="4224337"/>
            <a:ext cx="1085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B91C1C"/>
                </a:solidFill>
                <a:latin typeface="Plus Jakarta Sans"/>
              </a:rPr>
              <a:t>TIER 3: FAIL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4586" y="4538662"/>
            <a:ext cx="134907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Score ≥ 18.5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2237" y="4805362"/>
            <a:ext cx="2333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Confirmed cracks, chips, or dirt.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910137"/>
            <a:ext cx="52959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4910137"/>
            <a:ext cx="52959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4910137"/>
            <a:ext cx="38100" cy="609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0300" y="4910137"/>
            <a:ext cx="38100" cy="609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157412"/>
          <a:ext cx="10820397" cy="2524125"/>
        </p:xfrm>
        <a:graphic>
          <a:graphicData uri="http://schemas.openxmlformats.org/drawingml/2006/table">
            <a:tbl>
              <a:tblPr/>
              <a:tblGrid>
                <a:gridCol w="2224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65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927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8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Defect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Test Samples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Pass (Good)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EA580C"/>
                          </a:solidFill>
                          <a:latin typeface="Plus Jakarta Sans"/>
                        </a:rPr>
                        <a:t>Review (Close Call)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Fail (Defective)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Performance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Normal / Defect-free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A580C"/>
                          </a:solidFill>
                          <a:latin typeface="Plus Jakarta Sans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0.0% False Rejection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Broken Large (Fractures)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A580C"/>
                          </a:solidFill>
                          <a:latin typeface="Plus Jakarta Sa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100.0% Detection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Broken Small (Hairline)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22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A580C"/>
                          </a:solidFill>
                          <a:latin typeface="Plus Jakarta Sa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21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95.5% Defect + 4.5% Review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8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Contamination (Foreign)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21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A580C"/>
                          </a:solidFill>
                          <a:latin typeface="Plus Jakarta Sa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19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90.5% Detection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9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Overall Total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83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17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EA580C"/>
                          </a:solidFill>
                          <a:latin typeface="Plus Jakarta Sans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98.69% ROC-AUC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19100"/>
            <a:ext cx="115062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QUANTITATIVE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8650"/>
            <a:ext cx="115062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MVTec AD Benchmark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43487"/>
            <a:ext cx="6096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A34A"/>
                </a:solidFill>
                <a:latin typeface="Plus Jakarta Sans"/>
              </a:rPr>
              <a:t>Zero Scrap Waste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33987"/>
            <a:ext cx="6096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Zero normal bottles incorrectly thrown away.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5043487"/>
            <a:ext cx="57531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Zero Escapes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5233987"/>
            <a:ext cx="57531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100% of broken bottles caught by Fail or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981575"/>
            <a:ext cx="10820400" cy="4572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5114925"/>
            <a:ext cx="190500" cy="1905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238375"/>
          <a:ext cx="10820399" cy="2514600"/>
        </p:xfrm>
        <a:graphic>
          <a:graphicData uri="http://schemas.openxmlformats.org/drawingml/2006/table">
            <a:tbl>
              <a:tblPr/>
              <a:tblGrid>
                <a:gridCol w="2791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0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8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System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Our Classical IPCV Approach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Deep Learning (CNN / PatchCore)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Compute Hardware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Standard Laptop CPU (No GPU)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Dedicated NVIDIA GPU Required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Inference Latency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~28 ms / image (35 FPS)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60 – 200 ms / image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Model File Footprint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3.8 MB (NumPy Array File)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150 MB – 1.2 GB Weights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Training Duration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~3.5 seconds on CPU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15 – 45 minutes on GPU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Decision Explainability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100% Transparent (Filters &amp; Edges)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Black Box Latent Space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19100"/>
            <a:ext cx="115062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TECHNICAL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8650"/>
            <a:ext cx="115062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Classical IPCV vs.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150" y="5124450"/>
            <a:ext cx="8251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Plus Jakarta Sans"/>
              </a:rPr>
              <a:t>Delivers industrial line throughput (35 FPS) without specialized edge hardware or complex training setups.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848350"/>
            <a:ext cx="10668000" cy="400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2943225"/>
            <a:ext cx="5143500" cy="1295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86500" y="2943225"/>
            <a:ext cx="5143500" cy="1295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5848350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2943225"/>
            <a:ext cx="51435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86500" y="2943225"/>
            <a:ext cx="51435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PROJECT WRAP-UP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76300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8FAFC"/>
                </a:solidFill>
                <a:latin typeface="Plus Jakarta Sans"/>
              </a:rPr>
              <a:t>Conclusion &amp; 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62662"/>
            <a:ext cx="6238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Motilal Nehru National Institute of Technology • Computer Science &amp;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0150" y="6048375"/>
            <a:ext cx="3262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Thank You • Questions &amp;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152775"/>
            <a:ext cx="67508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1F5F9"/>
                </a:solidFill>
                <a:latin typeface="Plus Jakarta Sans"/>
              </a:rPr>
              <a:t>Key Project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3152775"/>
            <a:ext cx="5905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1F5F9"/>
                </a:solidFill>
                <a:latin typeface="Plus Jakarta Sans"/>
              </a:rPr>
              <a:t>Future Directions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505200"/>
            <a:ext cx="6429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98.7% ROC-AUC: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High detection accuracy.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781425"/>
            <a:ext cx="6429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Zero Scrap: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0% false rejection of good bottles.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057650"/>
            <a:ext cx="6429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Real-Time CPU: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35 FPS processing speed.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3505200"/>
            <a:ext cx="5905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C++ Port: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Target 100+ FPS line speed.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3781425"/>
            <a:ext cx="5905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Multi-Angle Vision: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Inspect bottom and neck simultaneously.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4057650"/>
            <a:ext cx="5905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Edge Integration: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Embed on conveyor PLC controllers.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913</Words>
  <Application>Microsoft Office PowerPoint</Application>
  <PresentationFormat>Widescreen</PresentationFormat>
  <Paragraphs>194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Inter</vt:lpstr>
      <vt:lpstr>Arial</vt:lpstr>
      <vt:lpstr>Calibri</vt:lpstr>
      <vt:lpstr>Plus Jakarta Sans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Manjeet Kumar</cp:lastModifiedBy>
  <cp:revision>4</cp:revision>
  <dcterms:created xsi:type="dcterms:W3CDTF">2013-01-27T09:14:16Z</dcterms:created>
  <dcterms:modified xsi:type="dcterms:W3CDTF">2026-10-30T04:50:50Z</dcterms:modified>
  <cp:category/>
</cp:coreProperties>
</file>